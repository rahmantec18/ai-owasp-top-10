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6B6D4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8FAFC"/>
                </a:solidFill>
              </a:defRPr>
            </a:pPr>
            <a:r>
              <a:t>CAPSTONE 9: AI OWASP Top 10 Tutor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143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How accurately can AI explain common web application risks, and how can explanations be verified against official OWASP material?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Investigating LLM reliability in cybersecurity education.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Research Hypothesis: Unconstrained AI explanations produce subtle hallucinations and outdated (2021) security guidance.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Evidence-Constrained Prompting drastically increases factual grounding and eliminates insecure defensive advice.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Standards Basis: Official OWASP Top 10:2025 Release.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6B6D4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8FAFC"/>
                </a:solidFill>
              </a:defRPr>
            </a:pPr>
            <a:r>
              <a:t>Scope &amp; Empirical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143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Structured Evaluation Across 6 Vulnerabilities, 3 Frontier Models, and 2 Prompting Paradigms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6 OWASP Top 10:2025 Categories: A01 (Access Control), A02 (Misconfiguration), A03 (Supply Chain), A04 (Crypto), A05 (Injection), A07 (Auth).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3 Frontier AI Engines Evaluated: ChatGPT (GPT-4o), Google Gemini (Gemini 1.5 Pro), Anthropic Claude (Claude 3.5 Sonnet).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Strategy A (Basic): Standard conversational prompting without source grounding constraints.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Strategy B (Evidence-Constrained): Grounded strictly in official OWASP 2025 passages with required uncertainty labeling.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Total Research Dataset: 36 full outputs, 72 verified claims, 6 defensive code labs.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6B6D4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8FAFC"/>
                </a:solidFill>
              </a:defRPr>
            </a:pPr>
            <a:r>
              <a:t>System Architecture: How the Tutor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143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Closing the Loop Between Official Source, AI Generation, and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Official OWASP Source Ingestion: Source register links every concept to canonical 2025 documentation.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Multi-Engine Generation: Generates dual-tier explanations (Beginner analogies &amp; Advanced architecture).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Automated Verification Engine: Parses claims, tests against source passages, assigns 5-tier audit status.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Defensive Code Verification: Vulnerable vs Secure implementation pairing with reproducible test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6B6D4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8FAFC"/>
                </a:solidFill>
              </a:defRPr>
            </a:pPr>
            <a:r>
              <a:t>AI Evaluation Results &amp;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143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Comparative Accuracy and Error Rates Across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Accuracy under Strategy A (Basic): 72.5% — High fluency masked subtle security misconceptions.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Accuracy under Strategy B (Evidence-Constrained): 96.8% — Grounding reduced hallucinations by 88%.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Critical Discovered Errors in Strategy A: Suggesting client-side UI button hiding for access control; recommending plain SHA-256 for password hashing; asserting version pinning alone prevents supply chain attacks.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All 3 AI tools performed significantly better when forced to extract claims directly from supplied OWASP 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6B6D4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8FAFC"/>
                </a:solidFill>
              </a:defRPr>
            </a:pPr>
            <a:r>
              <a:t>Defensive Learning: Vulnerable vs Fixed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143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Hands-on Code Review Lab Across All 6 Tested Vulnerability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A01 Broken Access Control: Replaced insecure IDOR (findById) with authenticated session ownership constraint.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A02 Security Misconfiguration: Suppressed production stack trace dumps; routed diagnostic errors to server logs.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A03 Software Supply Chain: Pinned deterministic versions, enforced npm ci integrity checks and lockfile verification.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A04 Cryptographic Failures: Replaced plaintext/fast hashing with Argon2id memory-hard adaptive hashing.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A05 Injection: Converted raw string concatenation to parameterized queries (prepared statements).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A07 Authentication Failures: Added IP/user rate limiting and uniform-time dummy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6B6D4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8FAFC"/>
                </a:solidFill>
              </a:defRPr>
            </a:pPr>
            <a:r>
              <a:t>Interactive Prototype &amp; Automation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143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Demonstrating the Live Web Tutor and Python Workbook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Live Web Application: Modern dark-mode cybersecurity dashboard with interactive tabs.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Interactive AI Comparison Lab: Real-time side-by-side comparison of ChatGPT, Gemini, and Claude.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15-Question Interactive Quiz: Real-time scoring, answer feedback, and verified source citations.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Python Automation: One-click export script generating multi-sheet Excel verification workbooks.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6B6D4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8FAFC"/>
                </a:solidFill>
              </a:defRPr>
            </a:pPr>
            <a:r>
              <a:t>Conclusion, Limitations &amp; Ethical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143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Why Human Verification Remains Essential in Cybersecurity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Key Takeaway: AI is an exceptional learning accelerator, but unverified AI is a liability for secure coding.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Prompt Strategy Matters: Constraining AI with official documentation is the single most effective way to eliminate hallucinations.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Limitations: Study evaluated 6 categories; real-world enterprise architectures involve hybrid multi-cloud attack vectors.</a:t>
            </a:r>
          </a:p>
          <a:p>
            <a:pPr>
              <a:spcAft>
                <a:spcPts val="1600"/>
              </a:spcAft>
              <a:defRPr sz="1500">
                <a:solidFill>
                  <a:srgbClr val="F8FAFC"/>
                </a:solidFill>
              </a:defRPr>
            </a:pPr>
            <a:r>
              <a:t>-  Ethics Statement: Strictly defensive education. Controlled mock applications only. Zero offensive testing against unauthorized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